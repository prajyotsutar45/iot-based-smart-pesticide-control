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4" r:id="rId10"/>
    <p:sldId id="263" r:id="rId11"/>
  </p:sldIdLst>
  <p:sldSz cx="18288000" cy="10287000"/>
  <p:notesSz cx="6858000" cy="9144000"/>
  <p:embeddedFontLst>
    <p:embeddedFont>
      <p:font typeface="Luktao Bold" panose="020B0604020202020204" charset="-34"/>
      <p:regular r:id="rId12"/>
    </p:embeddedFont>
    <p:embeddedFont>
      <p:font typeface="Luktao Bold Italics" panose="020B0604020202020204" charset="-34"/>
      <p:regular r:id="rId13"/>
    </p:embeddedFont>
    <p:embeddedFont>
      <p:font typeface="Nourd" panose="020B0604020202020204" charset="0"/>
      <p:regular r:id="rId14"/>
    </p:embeddedFont>
    <p:embeddedFont>
      <p:font typeface="Nourd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206" y="5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1.jpe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jpe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3.jpe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823390" y="3608165"/>
            <a:ext cx="5802877" cy="5802877"/>
          </a:xfrm>
          <a:custGeom>
            <a:avLst/>
            <a:gdLst/>
            <a:ahLst/>
            <a:cxnLst/>
            <a:rect l="l" t="t" r="r" b="b"/>
            <a:pathLst>
              <a:path w="5802877" h="5802877">
                <a:moveTo>
                  <a:pt x="0" y="0"/>
                </a:moveTo>
                <a:lnTo>
                  <a:pt x="5802877" y="0"/>
                </a:lnTo>
                <a:lnTo>
                  <a:pt x="5802877" y="5802877"/>
                </a:lnTo>
                <a:lnTo>
                  <a:pt x="0" y="580287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194469" y="622018"/>
            <a:ext cx="12458420" cy="221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271"/>
              </a:lnSpc>
            </a:pPr>
            <a:r>
              <a:rPr lang="en-US" sz="10087" b="1" dirty="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SMART INDIA HACKATHON 2025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" y="343859"/>
            <a:ext cx="2879988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455D66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455D66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279727"/>
            <a:ext cx="8749124" cy="4930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Problem Statement ID – 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Title: Intelligent Pesticide Sprinkling System Determined by Plant Infection Level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Theme: AgriTech / IoT / Smart Farming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Category: Hardware</a:t>
            </a:r>
          </a:p>
          <a:p>
            <a:pPr marL="755649" lvl="1" indent="-377824" algn="l">
              <a:lnSpc>
                <a:spcPts val="4899"/>
              </a:lnSpc>
              <a:buFont typeface="Arial"/>
              <a:buChar char="•"/>
            </a:pPr>
            <a:r>
              <a:rPr lang="en-US" sz="34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Team ID &amp; Team Name</a:t>
            </a:r>
          </a:p>
          <a:p>
            <a:pPr algn="l">
              <a:lnSpc>
                <a:spcPts val="4899"/>
              </a:lnSpc>
            </a:pPr>
            <a:endParaRPr lang="en-US" sz="3499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95650" y="382411"/>
            <a:ext cx="9987683" cy="1330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77"/>
              </a:lnSpc>
            </a:pPr>
            <a:r>
              <a:rPr lang="en-US" sz="46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SMART INFECTION-AWARE PESTICIDE SPRINKLER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051568"/>
            <a:ext cx="14484269" cy="1043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Proposed Solution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IoT-based system with sensors (color, humidity, soil).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Detects infection levels in real-time using sensors.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Activates pesticide spray only when infection risk ≥ threshold.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How it addresses the problem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Prevents excess pesticide use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Reduces farmer cost &amp; environmental damage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Innovation &amp; Uniqueness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Multi-sensor approach (not just vision-based)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Autonomous decision-making with manual override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Low-cost, scalable, farmer-friendly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Health Impact: </a:t>
            </a:r>
          </a:p>
          <a:p>
            <a:pPr marL="457200" indent="-457200" algn="l">
              <a:lnSpc>
                <a:spcPts val="4306"/>
              </a:lnSpc>
              <a:buFont typeface="Courier New" panose="02070309020205020404" pitchFamily="49" charset="0"/>
              <a:buChar char="o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Reduces chemical exposure for farmers and ensures safer, healthier crops.</a:t>
            </a:r>
          </a:p>
          <a:p>
            <a:pPr marL="457200" indent="-457200" algn="l">
              <a:lnSpc>
                <a:spcPts val="4306"/>
              </a:lnSpc>
              <a:buFont typeface="Courier New" panose="02070309020205020404" pitchFamily="49" charset="0"/>
              <a:buChar char="o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 Produces safer, pesticide-controlled crops for consumers.</a:t>
            </a:r>
          </a:p>
          <a:p>
            <a:pPr algn="l">
              <a:lnSpc>
                <a:spcPts val="4306"/>
              </a:lnSpc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306"/>
              </a:lnSpc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886450" y="807615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343859"/>
            <a:ext cx="2819400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EDB146-E88B-EC40-8903-66B04BECCE67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63600" y="2814473"/>
            <a:ext cx="4245310" cy="42453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66228" y="1868182"/>
            <a:ext cx="13109141" cy="1110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44"/>
              </a:lnSpc>
            </a:pPr>
            <a:r>
              <a:rPr lang="en-US" sz="84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TECHNICAL APPROACH</a:t>
            </a:r>
          </a:p>
        </p:txBody>
      </p:sp>
      <p:sp>
        <p:nvSpPr>
          <p:cNvPr id="6" name="Freeform 6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27691" y="3214156"/>
            <a:ext cx="8383583" cy="6721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Technologies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Hardware</a:t>
            </a:r>
            <a:r>
              <a:rPr lang="en-US" sz="3399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 : ESP32, TCS34725 (color), DHT22 (humidity/temp), capacitive soil sensor,  MOSFET-driven pump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Communication</a:t>
            </a:r>
            <a:r>
              <a:rPr lang="en-US" sz="3399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Wi-Fi/Bluetooth (IoT monitoring)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Software</a:t>
            </a:r>
            <a:r>
              <a:rPr lang="en-US" sz="3399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Embedded C/C++, threshold logic, simple ML upgrade scope</a:t>
            </a:r>
          </a:p>
          <a:p>
            <a:pPr algn="l">
              <a:lnSpc>
                <a:spcPts val="4759"/>
              </a:lnSpc>
            </a:pPr>
            <a:endParaRPr lang="en-US" sz="3399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A66BC88-7365-D576-313D-28449935572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7050" y="2828901"/>
            <a:ext cx="6837049" cy="57324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94201" y="-2620068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97367" y="831702"/>
            <a:ext cx="9987683" cy="15586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80"/>
              </a:lnSpc>
            </a:pPr>
            <a:r>
              <a:rPr lang="en-US" sz="91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METHODOLOGY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2643234"/>
            <a:ext cx="15811875" cy="8132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Sensing Module</a:t>
            </a: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Color, Humidity/Temp, Soil Moisture, Leaf Wetness sensors collect real-time crop data.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Processing</a:t>
            </a: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ESP32 processes readings, compares with calibrated healthy crop values.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Infection Detection</a:t>
            </a: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 Infection Index calculated using thresholds (upgradeable to ML).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algn="l">
              <a:lnSpc>
                <a:spcPts val="4306"/>
              </a:lnSpc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Decision Logic</a:t>
            </a: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: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If Index ≥ Threshold → Trigger pump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Spray for calibrated duration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Cool-down to avoid overdose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IoT Integration (optional): Data logging, farmer alerts, manual override.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Prototype &amp; Testing: Validate on crops, fine-tune thresholds, ensure rugged &amp; scalable design.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9809427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95650" y="1304617"/>
            <a:ext cx="9920153" cy="8613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3"/>
              </a:lnSpc>
            </a:pPr>
            <a:r>
              <a:rPr lang="en-US" sz="67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FEASIBILITY &amp; VIABILITY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5567" y="2710926"/>
            <a:ext cx="13253402" cy="767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Feasibility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Uses low-cost, readily available sensors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Easy to assemble with existing </a:t>
            </a:r>
            <a:r>
              <a:rPr lang="en-US" sz="3076" dirty="0" err="1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agri</a:t>
            </a: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-tools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Challenges</a:t>
            </a: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Calibration for different crops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Power supply in remote farms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Weatherproofing hardware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 dirty="0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Mitigation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Provide standard calibration sheet per crop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Solar-powered battery option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dirty="0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Rugged, waterproof casing</a:t>
            </a:r>
          </a:p>
          <a:p>
            <a:pPr algn="l">
              <a:lnSpc>
                <a:spcPts val="4306"/>
              </a:lnSpc>
            </a:pPr>
            <a:endParaRPr lang="en-US" sz="3076" dirty="0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4321943" y="7881245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3"/>
                </a:lnTo>
                <a:lnTo>
                  <a:pt x="0" y="6143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595762" y="1560874"/>
            <a:ext cx="9987683" cy="946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68"/>
              </a:lnSpc>
            </a:pPr>
            <a:r>
              <a:rPr lang="en-US" sz="7829" b="1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IMPACT &amp; BENEFITS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449142"/>
            <a:ext cx="10819856" cy="4874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Impact on Farmers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Reduces chemical exposure &amp; pesticide cost (up to 40%)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Increases crop yield &amp; quality</a:t>
            </a:r>
          </a:p>
          <a:p>
            <a:pPr marL="664192" lvl="1" indent="-332096" algn="l">
              <a:lnSpc>
                <a:spcPts val="4306"/>
              </a:lnSpc>
              <a:buFont typeface="Arial"/>
              <a:buChar char="•"/>
            </a:pPr>
            <a:r>
              <a:rPr lang="en-US" sz="3076" b="1">
                <a:solidFill>
                  <a:srgbClr val="0166C2"/>
                </a:solidFill>
                <a:latin typeface="Nourd Bold"/>
                <a:ea typeface="Nourd Bold"/>
                <a:cs typeface="Nourd Bold"/>
                <a:sym typeface="Nourd Bold"/>
              </a:rPr>
              <a:t>Wider Benefits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Environmental: Prevents soil/water contamination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Social: Safer food, better health</a:t>
            </a:r>
          </a:p>
          <a:p>
            <a:pPr marL="1328384" lvl="2" indent="-442795" algn="l">
              <a:lnSpc>
                <a:spcPts val="4306"/>
              </a:lnSpc>
              <a:buFont typeface="Arial"/>
              <a:buChar char="⚬"/>
            </a:pPr>
            <a:r>
              <a:rPr lang="en-US" sz="3076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Economic: Affordable &amp; scalable for small farmers</a:t>
            </a:r>
          </a:p>
          <a:p>
            <a:pPr algn="l">
              <a:lnSpc>
                <a:spcPts val="4306"/>
              </a:lnSpc>
            </a:pPr>
            <a:endParaRPr lang="en-US" sz="3076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09800" y="2704216"/>
            <a:ext cx="13258800" cy="11514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01"/>
              </a:lnSpc>
            </a:pPr>
            <a:r>
              <a:rPr lang="en-US" sz="7929" b="1" dirty="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RESEARCH &amp; REFERENCES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06744" y="4752159"/>
            <a:ext cx="11948157" cy="31608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06" lvl="1" indent="-38855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Research papers on smart agriculture IoT systems</a:t>
            </a:r>
          </a:p>
          <a:p>
            <a:pPr marL="777106" lvl="1" indent="-38855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Government agri-tech reports (ICAR, FAO, etc.)</a:t>
            </a:r>
          </a:p>
          <a:p>
            <a:pPr marL="777106" lvl="1" indent="-38855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Open-source IoT farming projects</a:t>
            </a:r>
          </a:p>
          <a:p>
            <a:pPr marL="777106" lvl="1" indent="-388553" algn="l">
              <a:lnSpc>
                <a:spcPts val="5039"/>
              </a:lnSpc>
              <a:buFont typeface="Arial"/>
              <a:buChar char="•"/>
            </a:pPr>
            <a:r>
              <a:rPr lang="en-US" sz="3599">
                <a:solidFill>
                  <a:srgbClr val="0166C2"/>
                </a:solidFill>
                <a:latin typeface="Nourd"/>
                <a:ea typeface="Nourd"/>
                <a:cs typeface="Nourd"/>
                <a:sym typeface="Nourd"/>
              </a:rPr>
              <a:t>Sensor datasheets &amp; pump calibration studies</a:t>
            </a:r>
          </a:p>
          <a:p>
            <a:pPr algn="l">
              <a:lnSpc>
                <a:spcPts val="5039"/>
              </a:lnSpc>
            </a:pPr>
            <a:endParaRPr lang="en-US" sz="3599">
              <a:solidFill>
                <a:srgbClr val="0166C2"/>
              </a:solidFill>
              <a:latin typeface="Nourd"/>
              <a:ea typeface="Nourd"/>
              <a:cs typeface="Nourd"/>
              <a:sym typeface="Nourd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427290-D420-965A-9FC2-97B6CD941F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678181-51B9-89C4-583C-DAB6212D8749}"/>
              </a:ext>
            </a:extLst>
          </p:cNvPr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611B60-D929-03BE-AC65-24FE226C1C3A}"/>
              </a:ext>
            </a:extLst>
          </p:cNvPr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7741852-E147-4E98-E37A-93C77FF32A0A}"/>
              </a:ext>
            </a:extLst>
          </p:cNvPr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F11A842-3625-D440-1B92-987CE7E26FB8}"/>
              </a:ext>
            </a:extLst>
          </p:cNvPr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0638547-C932-C503-7DAC-C4A584C6C240}"/>
              </a:ext>
            </a:extLst>
          </p:cNvPr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7372BA9-DA7E-3921-0918-2DD0AC80F6B9}"/>
              </a:ext>
            </a:extLst>
          </p:cNvPr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B67F7DC-4401-3772-89EE-5AA442344BF0}"/>
              </a:ext>
            </a:extLst>
          </p:cNvPr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65F3EB7-FCFE-1558-5683-9147D79357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809625"/>
            <a:ext cx="11277600" cy="866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1370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70A2AE-58D8-40CB-FA21-69DFC9BA07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3915" y="-119678"/>
            <a:ext cx="3312576" cy="220242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2D9FF6-9A25-ED1F-8745-AB8B697E60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0012" y="-2826835"/>
            <a:ext cx="11773707" cy="61431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D785F3B-6B3C-1879-3C1F-47E570C710B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244748"/>
            <a:ext cx="3241995" cy="16514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677E556-08F5-F2F7-D415-8E2DCFFFD23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82800" y="7200900"/>
            <a:ext cx="4114840" cy="41148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07A60E1-BFD5-D831-138A-9FB1865F7AB0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3800" y="7353300"/>
            <a:ext cx="2175185" cy="2172414"/>
          </a:xfrm>
          <a:prstGeom prst="rect">
            <a:avLst/>
          </a:prstGeom>
        </p:spPr>
      </p:pic>
      <p:pic>
        <p:nvPicPr>
          <p:cNvPr id="16" name="WhatsApp Video 2025-09-21 at 11.39.45 PM">
            <a:hlinkClick r:id="" action="ppaction://media"/>
            <a:extLst>
              <a:ext uri="{FF2B5EF4-FFF2-40B4-BE49-F238E27FC236}">
                <a16:creationId xmlns:a16="http://schemas.microsoft.com/office/drawing/2014/main" id="{D5D5F274-2B3B-FB8D-1202-27A54C9661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743200" y="1104900"/>
            <a:ext cx="11353800" cy="7848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2C2D906-4A0E-429F-06E1-41D0ECC91E2F}"/>
              </a:ext>
            </a:extLst>
          </p:cNvPr>
          <p:cNvSpPr txBox="1"/>
          <p:nvPr/>
        </p:nvSpPr>
        <p:spPr>
          <a:xfrm>
            <a:off x="-589724" y="399324"/>
            <a:ext cx="4628324" cy="11644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2800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800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4267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085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C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-2201124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201900" y="683810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19150" y="-1605811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5514975" y="6838101"/>
            <a:ext cx="11772900" cy="6143313"/>
          </a:xfrm>
          <a:custGeom>
            <a:avLst/>
            <a:gdLst/>
            <a:ahLst/>
            <a:cxnLst/>
            <a:rect l="l" t="t" r="r" b="b"/>
            <a:pathLst>
              <a:path w="11772900" h="6143313">
                <a:moveTo>
                  <a:pt x="0" y="0"/>
                </a:moveTo>
                <a:lnTo>
                  <a:pt x="11772900" y="0"/>
                </a:lnTo>
                <a:lnTo>
                  <a:pt x="11772900" y="6143314"/>
                </a:lnTo>
                <a:lnTo>
                  <a:pt x="0" y="6143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201900" y="7236961"/>
            <a:ext cx="2174081" cy="2174081"/>
          </a:xfrm>
          <a:custGeom>
            <a:avLst/>
            <a:gdLst/>
            <a:ahLst/>
            <a:cxnLst/>
            <a:rect l="l" t="t" r="r" b="b"/>
            <a:pathLst>
              <a:path w="2174081" h="2174081">
                <a:moveTo>
                  <a:pt x="0" y="0"/>
                </a:moveTo>
                <a:lnTo>
                  <a:pt x="2174081" y="0"/>
                </a:lnTo>
                <a:lnTo>
                  <a:pt x="2174081" y="2174081"/>
                </a:lnTo>
                <a:lnTo>
                  <a:pt x="0" y="2174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914790" y="4059268"/>
            <a:ext cx="12458420" cy="2039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42"/>
              </a:lnSpc>
            </a:pPr>
            <a:r>
              <a:rPr lang="en-US" sz="11387" b="1" dirty="0">
                <a:solidFill>
                  <a:srgbClr val="0166C2"/>
                </a:solidFill>
                <a:latin typeface="Luktao Bold"/>
                <a:ea typeface="Luktao Bold"/>
                <a:cs typeface="Luktao Bold"/>
                <a:sym typeface="Luktao Bold"/>
              </a:rPr>
              <a:t>THANK YOU !</a:t>
            </a:r>
          </a:p>
        </p:txBody>
      </p:sp>
      <p:sp>
        <p:nvSpPr>
          <p:cNvPr id="8" name="Freeform 8"/>
          <p:cNvSpPr/>
          <p:nvPr/>
        </p:nvSpPr>
        <p:spPr>
          <a:xfrm>
            <a:off x="14810644" y="44334"/>
            <a:ext cx="3242608" cy="1652398"/>
          </a:xfrm>
          <a:custGeom>
            <a:avLst/>
            <a:gdLst/>
            <a:ahLst/>
            <a:cxnLst/>
            <a:rect l="l" t="t" r="r" b="b"/>
            <a:pathLst>
              <a:path w="3242608" h="1652398">
                <a:moveTo>
                  <a:pt x="0" y="0"/>
                </a:moveTo>
                <a:lnTo>
                  <a:pt x="3242609" y="0"/>
                </a:lnTo>
                <a:lnTo>
                  <a:pt x="3242609" y="1652398"/>
                </a:lnTo>
                <a:lnTo>
                  <a:pt x="0" y="165239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0" y="343859"/>
            <a:ext cx="2656016" cy="8115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23"/>
              </a:lnSpc>
            </a:pPr>
            <a:r>
              <a:rPr lang="en-US" sz="31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SHOCKWAVE</a:t>
            </a:r>
          </a:p>
          <a:p>
            <a:pPr algn="ctr">
              <a:lnSpc>
                <a:spcPts val="3017"/>
              </a:lnSpc>
            </a:pPr>
            <a:r>
              <a:rPr lang="en-US" sz="2929" b="1" i="1" dirty="0">
                <a:solidFill>
                  <a:srgbClr val="545454"/>
                </a:solidFill>
                <a:latin typeface="Luktao Bold Italics"/>
                <a:ea typeface="Luktao Bold Italics"/>
                <a:cs typeface="Luktao Bold Italics"/>
                <a:sym typeface="Luktao Bold Italics"/>
              </a:rPr>
              <a:t>SQUAD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413</Words>
  <Application>Microsoft Office PowerPoint</Application>
  <PresentationFormat>Custom</PresentationFormat>
  <Paragraphs>90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Nourd Bold</vt:lpstr>
      <vt:lpstr>Nourd</vt:lpstr>
      <vt:lpstr>Luktao Bold</vt:lpstr>
      <vt:lpstr>Courier New</vt:lpstr>
      <vt:lpstr>Luktao Bold Italics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Professional Geometric Project Presentation</dc:title>
  <dc:creator>Admin</dc:creator>
  <cp:lastModifiedBy>SANKET GAVKAR</cp:lastModifiedBy>
  <cp:revision>2</cp:revision>
  <dcterms:created xsi:type="dcterms:W3CDTF">2006-08-16T00:00:00Z</dcterms:created>
  <dcterms:modified xsi:type="dcterms:W3CDTF">2025-09-21T18:25:33Z</dcterms:modified>
  <dc:identifier>DAGzmuOeJnY</dc:identifier>
</cp:coreProperties>
</file>